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ewsreader"/>
      <p:regular r:id="rId16"/>
      <p:bold r:id="rId17"/>
      <p:italic r:id="rId18"/>
      <p:boldItalic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DM Sans SemiBold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  <p:embeddedFont>
      <p:font typeface="Newsreader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33" Type="http://schemas.openxmlformats.org/officeDocument/2006/relationships/font" Target="fonts/NewsreaderSemiBold-bold.fntdata"/><Relationship Id="rId32" Type="http://schemas.openxmlformats.org/officeDocument/2006/relationships/font" Target="fonts/NewsreaderSemiBold-regular.fntdata"/><Relationship Id="rId35" Type="http://schemas.openxmlformats.org/officeDocument/2006/relationships/font" Target="fonts/NewsreaderSemiBold-boldItalic.fntdata"/><Relationship Id="rId34" Type="http://schemas.openxmlformats.org/officeDocument/2006/relationships/font" Target="fonts/NewsreaderSemiBold-italic.fntdata"/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DMSansSemiBold-regular.fntdata"/><Relationship Id="rId23" Type="http://schemas.openxmlformats.org/officeDocument/2006/relationships/font" Target="fonts/DMSansLight-boldItalic.fntdata"/><Relationship Id="rId26" Type="http://schemas.openxmlformats.org/officeDocument/2006/relationships/font" Target="fonts/DMSansSemiBold-italic.fntdata"/><Relationship Id="rId25" Type="http://schemas.openxmlformats.org/officeDocument/2006/relationships/font" Target="fonts/DMSansSemiBold-bold.fntdata"/><Relationship Id="rId28" Type="http://schemas.openxmlformats.org/officeDocument/2006/relationships/font" Target="fonts/DMSans-regular.fntdata"/><Relationship Id="rId27" Type="http://schemas.openxmlformats.org/officeDocument/2006/relationships/font" Target="fonts/DMSansSemiBold-boldItalic.fntdata"/><Relationship Id="rId29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ewsreader-bold.fntdata"/><Relationship Id="rId16" Type="http://schemas.openxmlformats.org/officeDocument/2006/relationships/font" Target="fonts/Newsreader-regular.fntdata"/><Relationship Id="rId19" Type="http://schemas.openxmlformats.org/officeDocument/2006/relationships/font" Target="fonts/Newsreader-boldItalic.fntdata"/><Relationship Id="rId18" Type="http://schemas.openxmlformats.org/officeDocument/2006/relationships/font" Target="fonts/Newsread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544301e9726ec5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h544301e9726ec5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544301e9726ec5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544301e9726ec5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544301e9726ec5a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h544301e9726ec5a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544301e9726ec5a5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h544301e9726ec5a5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h544301e9726ec5a5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h544301e9726ec5a5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544301e9726ec5a5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h544301e9726ec5a5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544301e9726ec5a5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h544301e9726ec5a5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544301e9726ec5a5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544301e9726ec5a5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544301e9726ec5a5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544301e9726ec5a5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544301e9726ec5a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544301e9726ec5a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of CLI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Patrick Guinn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9/25/26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/>
          <p:nvPr/>
        </p:nvSpPr>
        <p:spPr>
          <a:xfrm>
            <a:off x="50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7" name="Google Shape;477;p56"/>
          <p:cNvSpPr/>
          <p:nvPr/>
        </p:nvSpPr>
        <p:spPr>
          <a:xfrm>
            <a:off x="3048087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6096124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50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56"/>
          <p:cNvSpPr/>
          <p:nvPr/>
        </p:nvSpPr>
        <p:spPr>
          <a:xfrm>
            <a:off x="3048087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56"/>
          <p:cNvSpPr/>
          <p:nvPr/>
        </p:nvSpPr>
        <p:spPr>
          <a:xfrm>
            <a:off x="6096124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5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</a:t>
            </a:r>
            <a:endParaRPr/>
          </a:p>
        </p:txBody>
      </p:sp>
      <p:sp>
        <p:nvSpPr>
          <p:cNvPr id="483" name="Google Shape;483;p5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84" name="Google Shape;484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6" name="Google Shape;486;p56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i="1" lang="en"/>
              <a:t>o</a:t>
            </a:r>
            <a:r>
              <a:rPr i="1" lang="en"/>
              <a:t>verview</a:t>
            </a:r>
            <a:endParaRPr i="1"/>
          </a:p>
        </p:txBody>
      </p:sp>
      <p:sp>
        <p:nvSpPr>
          <p:cNvPr id="487" name="Google Shape;487;p5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sp>
        <p:nvSpPr>
          <p:cNvPr id="488" name="Google Shape;488;p5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89" name="Google Shape;489;p5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Design</a:t>
            </a:r>
            <a:endParaRPr/>
          </a:p>
        </p:txBody>
      </p:sp>
      <p:sp>
        <p:nvSpPr>
          <p:cNvPr id="490" name="Google Shape;490;p5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1" name="Google Shape;491;p5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Pattern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3" name="Google Shape;493;p5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Decisions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5" name="Google Shape;495;p5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"/>
          <p:cNvSpPr txBox="1"/>
          <p:nvPr>
            <p:ph type="title"/>
          </p:nvPr>
        </p:nvSpPr>
        <p:spPr>
          <a:xfrm>
            <a:off x="361975" y="988550"/>
            <a:ext cx="5356800" cy="28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Language: Java 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Build Tool: Maven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Database: PostgreSQL 18 (via Docker)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Testing: JUnit 5 + Mockito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Logging: SLF4J + Logback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Version Control: Git &amp; 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7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57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57"/>
          <p:cNvPicPr preferRelativeResize="0"/>
          <p:nvPr/>
        </p:nvPicPr>
        <p:blipFill rotWithShape="1">
          <a:blip r:embed="rId3">
            <a:alphaModFix/>
          </a:blip>
          <a:srcRect b="10858" l="0" r="0" t="10858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57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8"/>
          <p:cNvSpPr txBox="1"/>
          <p:nvPr>
            <p:ph type="title"/>
          </p:nvPr>
        </p:nvSpPr>
        <p:spPr>
          <a:xfrm>
            <a:off x="2423700" y="451721"/>
            <a:ext cx="4471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ERD</a:t>
            </a:r>
            <a:endParaRPr sz="2800"/>
          </a:p>
        </p:txBody>
      </p:sp>
      <p:pic>
        <p:nvPicPr>
          <p:cNvPr id="514" name="Google Shape;5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5" y="1066100"/>
            <a:ext cx="8414700" cy="38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5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9"/>
          <p:cNvSpPr txBox="1"/>
          <p:nvPr>
            <p:ph idx="2" type="body"/>
          </p:nvPr>
        </p:nvSpPr>
        <p:spPr>
          <a:xfrm>
            <a:off x="691000" y="4228550"/>
            <a:ext cx="6111900" cy="55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highlight>
                  <a:schemeClr val="dk1"/>
                </a:highlight>
              </a:rPr>
              <a:t>Layers:</a:t>
            </a:r>
            <a:r>
              <a:rPr lang="en" sz="2300">
                <a:highlight>
                  <a:srgbClr val="C9DAF8"/>
                </a:highlight>
              </a:rPr>
              <a:t>	API		</a:t>
            </a:r>
            <a:r>
              <a:rPr lang="en" sz="2300">
                <a:highlight>
                  <a:srgbClr val="FFF2CC"/>
                </a:highlight>
              </a:rPr>
              <a:t>Business</a:t>
            </a:r>
            <a:r>
              <a:rPr lang="en" sz="2300">
                <a:highlight>
                  <a:srgbClr val="C9DAF8"/>
                </a:highlight>
              </a:rPr>
              <a:t>		</a:t>
            </a:r>
            <a:r>
              <a:rPr lang="en" sz="2300">
                <a:highlight>
                  <a:srgbClr val="F4CCCC"/>
                </a:highlight>
              </a:rPr>
              <a:t>Data Access</a:t>
            </a:r>
            <a:endParaRPr sz="2700">
              <a:highlight>
                <a:srgbClr val="F4CCCC"/>
              </a:highlight>
            </a:endParaRPr>
          </a:p>
        </p:txBody>
      </p:sp>
      <p:sp>
        <p:nvSpPr>
          <p:cNvPr id="522" name="Google Shape;522;p59"/>
          <p:cNvSpPr txBox="1"/>
          <p:nvPr>
            <p:ph type="title"/>
          </p:nvPr>
        </p:nvSpPr>
        <p:spPr>
          <a:xfrm>
            <a:off x="2423700" y="451721"/>
            <a:ext cx="4471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Three Layer Architecture</a:t>
            </a:r>
            <a:endParaRPr sz="2800"/>
          </a:p>
        </p:txBody>
      </p:sp>
      <p:sp>
        <p:nvSpPr>
          <p:cNvPr id="523" name="Google Shape;523;p59"/>
          <p:cNvSpPr txBox="1"/>
          <p:nvPr/>
        </p:nvSpPr>
        <p:spPr>
          <a:xfrm>
            <a:off x="760950" y="1394975"/>
            <a:ext cx="56322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public class Main {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public static void main(String[] args) {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</a:t>
            </a:r>
            <a:r>
              <a:rPr lang="en" sz="1490">
                <a:solidFill>
                  <a:schemeClr val="lt1"/>
                </a:solidFill>
                <a:highlight>
                  <a:srgbClr val="FFF2CC"/>
                </a:highlight>
                <a:latin typeface="DM Sans"/>
                <a:ea typeface="DM Sans"/>
                <a:cs typeface="DM Sans"/>
                <a:sym typeface="DM Sans"/>
              </a:rPr>
              <a:t>AccountService accountService = new AccountService</a:t>
            </a: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</a:t>
            </a:r>
            <a:r>
              <a:rPr lang="en" sz="1490">
                <a:solidFill>
                  <a:schemeClr val="lt1"/>
                </a:solidFill>
                <a:highlight>
                  <a:srgbClr val="F4CCCC"/>
                </a:highlight>
                <a:latin typeface="DM Sans"/>
                <a:ea typeface="DM Sans"/>
                <a:cs typeface="DM Sans"/>
                <a:sym typeface="DM Sans"/>
              </a:rPr>
              <a:t>new AccountRepositoryImpl(),</a:t>
            </a:r>
            <a:endParaRPr sz="1490">
              <a:solidFill>
                <a:schemeClr val="lt1"/>
              </a:solidFill>
              <a:highlight>
                <a:srgbClr val="F4CCC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</a:t>
            </a:r>
            <a:r>
              <a:rPr lang="en" sz="1490">
                <a:solidFill>
                  <a:schemeClr val="lt1"/>
                </a:solidFill>
                <a:highlight>
                  <a:srgbClr val="F4CCCC"/>
                </a:highlight>
                <a:latin typeface="DM Sans"/>
                <a:ea typeface="DM Sans"/>
                <a:cs typeface="DM Sans"/>
                <a:sym typeface="DM Sans"/>
              </a:rPr>
              <a:t>new TransactionRepositoryImpl()</a:t>
            </a:r>
            <a:endParaRPr sz="1490">
              <a:solidFill>
                <a:schemeClr val="lt1"/>
              </a:solidFill>
              <a:highlight>
                <a:srgbClr val="F4CCC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);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</a:t>
            </a:r>
            <a:r>
              <a:rPr lang="en" sz="1490">
                <a:solidFill>
                  <a:schemeClr val="lt1"/>
                </a:solidFill>
                <a:highlight>
                  <a:srgbClr val="C9DAF8"/>
                </a:highlight>
                <a:latin typeface="DM Sans"/>
                <a:ea typeface="DM Sans"/>
                <a:cs typeface="DM Sans"/>
                <a:sym typeface="DM Sans"/>
              </a:rPr>
              <a:t>ConsoleUI consoleUI = new ConsoleUI</a:t>
            </a: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" sz="1490">
                <a:solidFill>
                  <a:schemeClr val="lt1"/>
                </a:solidFill>
                <a:highlight>
                  <a:srgbClr val="FFF2CC"/>
                </a:highlight>
                <a:latin typeface="DM Sans"/>
                <a:ea typeface="DM Sans"/>
                <a:cs typeface="DM Sans"/>
                <a:sym typeface="DM Sans"/>
              </a:rPr>
              <a:t>accountService</a:t>
            </a: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);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</a:t>
            </a:r>
            <a:r>
              <a:rPr lang="en" sz="1490">
                <a:solidFill>
                  <a:schemeClr val="lt1"/>
                </a:solidFill>
                <a:highlight>
                  <a:srgbClr val="C9DAF8"/>
                </a:highlight>
                <a:latin typeface="DM Sans"/>
                <a:ea typeface="DM Sans"/>
                <a:cs typeface="DM Sans"/>
                <a:sym typeface="DM Sans"/>
              </a:rPr>
              <a:t>consoleUI.run();</a:t>
            </a:r>
            <a:endParaRPr sz="1490">
              <a:solidFill>
                <a:schemeClr val="lt1"/>
              </a:solidFill>
              <a:highlight>
                <a:srgbClr val="C9DAF8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49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sz="149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4" name="Google Shape;52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800" y="882825"/>
            <a:ext cx="1879337" cy="3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60"/>
          <p:cNvSpPr txBox="1"/>
          <p:nvPr>
            <p:ph idx="1" type="subTitle"/>
          </p:nvPr>
        </p:nvSpPr>
        <p:spPr>
          <a:xfrm>
            <a:off x="582775" y="648825"/>
            <a:ext cx="20304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ConsoleUI.java</a:t>
            </a:r>
            <a:endParaRPr sz="1200"/>
          </a:p>
        </p:txBody>
      </p:sp>
      <p:sp>
        <p:nvSpPr>
          <p:cNvPr id="531" name="Google Shape;531;p60"/>
          <p:cNvSpPr txBox="1"/>
          <p:nvPr>
            <p:ph type="title"/>
          </p:nvPr>
        </p:nvSpPr>
        <p:spPr>
          <a:xfrm>
            <a:off x="2383200" y="217721"/>
            <a:ext cx="4471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Feature Explained: Login</a:t>
            </a:r>
            <a:endParaRPr sz="2800"/>
          </a:p>
        </p:txBody>
      </p:sp>
      <p:sp>
        <p:nvSpPr>
          <p:cNvPr id="532" name="Google Shape;532;p60"/>
          <p:cNvSpPr txBox="1"/>
          <p:nvPr/>
        </p:nvSpPr>
        <p:spPr>
          <a:xfrm>
            <a:off x="361975" y="1062200"/>
            <a:ext cx="71481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private void handleLogin()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System.out.print("Enter account ID: ");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Integer accountId = readAccountId();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if (accountId == null) return;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System.out.print("Enter PIN: ");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String pin = scanner.nextLine().trim();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try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</a:t>
            </a:r>
            <a:r>
              <a:rPr lang="en" sz="1260">
                <a:solidFill>
                  <a:schemeClr val="lt1"/>
                </a:solidFill>
                <a:highlight>
                  <a:srgbClr val="9FC5E8"/>
                </a:highlight>
                <a:latin typeface="DM Sans"/>
                <a:ea typeface="DM Sans"/>
                <a:cs typeface="DM Sans"/>
                <a:sym typeface="DM Sans"/>
              </a:rPr>
              <a:t>currentAccount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= </a:t>
            </a:r>
            <a:r>
              <a:rPr lang="en" sz="1260">
                <a:solidFill>
                  <a:schemeClr val="lt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accountService.login(accountId, pin);</a:t>
            </a:r>
            <a:endParaRPr sz="1260">
              <a:solidFill>
                <a:schemeClr val="lt1"/>
              </a:solidFill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System.out.println("Login successful. Welcome back!");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 catch (</a:t>
            </a:r>
            <a:r>
              <a:rPr lang="en" sz="126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AccountNotFoundException | InvalidPinException e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System.out.println("Login failed: " + e.getMessage());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 catch (</a:t>
            </a:r>
            <a:r>
              <a:rPr lang="en" sz="12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SQLException e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System.out.println("Service unavailable. Please try again later.");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60"/>
          <p:cNvSpPr txBox="1"/>
          <p:nvPr/>
        </p:nvSpPr>
        <p:spPr>
          <a:xfrm>
            <a:off x="7393125" y="810500"/>
            <a:ext cx="1750800" cy="3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JDBC</a:t>
            </a:r>
            <a:endParaRPr sz="170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A4C2F4"/>
                </a:highlight>
                <a:latin typeface="DM Sans"/>
                <a:ea typeface="DM Sans"/>
                <a:cs typeface="DM Sans"/>
                <a:sym typeface="DM Sans"/>
              </a:rPr>
              <a:t>Model</a:t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Business</a:t>
            </a:r>
            <a:endParaRPr sz="1700">
              <a:solidFill>
                <a:schemeClr val="lt1"/>
              </a:solidFill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Data </a:t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Access</a:t>
            </a:r>
            <a:endParaRPr sz="1700">
              <a:solidFill>
                <a:schemeClr val="lt1"/>
              </a:solidFill>
              <a:highlight>
                <a:srgbClr val="EA9999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CE5CD"/>
                </a:highlight>
                <a:latin typeface="DM Sans"/>
                <a:ea typeface="DM Sans"/>
                <a:cs typeface="DM Sans"/>
                <a:sym typeface="DM Sans"/>
              </a:rPr>
              <a:t>Logging</a:t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Custom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Exception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61"/>
          <p:cNvSpPr txBox="1"/>
          <p:nvPr>
            <p:ph idx="1" type="subTitle"/>
          </p:nvPr>
        </p:nvSpPr>
        <p:spPr>
          <a:xfrm>
            <a:off x="507825" y="451725"/>
            <a:ext cx="21054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AccountService.java</a:t>
            </a:r>
            <a:endParaRPr sz="1200"/>
          </a:p>
        </p:txBody>
      </p:sp>
      <p:sp>
        <p:nvSpPr>
          <p:cNvPr id="540" name="Google Shape;540;p61"/>
          <p:cNvSpPr txBox="1"/>
          <p:nvPr>
            <p:ph type="title"/>
          </p:nvPr>
        </p:nvSpPr>
        <p:spPr>
          <a:xfrm>
            <a:off x="2383200" y="217721"/>
            <a:ext cx="4471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Feature Explained: Login</a:t>
            </a:r>
            <a:endParaRPr sz="2800"/>
          </a:p>
        </p:txBody>
      </p:sp>
      <p:sp>
        <p:nvSpPr>
          <p:cNvPr id="541" name="Google Shape;541;p61"/>
          <p:cNvSpPr txBox="1"/>
          <p:nvPr/>
        </p:nvSpPr>
        <p:spPr>
          <a:xfrm>
            <a:off x="361975" y="648825"/>
            <a:ext cx="71481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public Account login(int accountId, String pin) throws </a:t>
            </a:r>
            <a:r>
              <a:rPr lang="en" sz="12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SQLException 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try (</a:t>
            </a:r>
            <a:r>
              <a:rPr lang="en" sz="12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Connection conn = ConnectionManager.getConnection()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return login(conn, accountId, pin);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 catch (SQLException e)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</a:t>
            </a:r>
            <a:r>
              <a:rPr lang="en" sz="1260">
                <a:solidFill>
                  <a:schemeClr val="lt1"/>
                </a:solidFill>
                <a:highlight>
                  <a:srgbClr val="FCE5CD"/>
                </a:highlight>
                <a:latin typeface="DM Sans"/>
                <a:ea typeface="DM Sans"/>
                <a:cs typeface="DM Sans"/>
                <a:sym typeface="DM Sans"/>
              </a:rPr>
              <a:t>logger.error("Database error during login for account {}: {}", accountId, e.getMessage());</a:t>
            </a:r>
            <a:endParaRPr sz="126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throw e;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Account login(Connection conn, int accountId, String pin) throws SQLException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</a:t>
            </a:r>
            <a:r>
              <a:rPr lang="en" sz="1260">
                <a:solidFill>
                  <a:schemeClr val="lt1"/>
                </a:solidFill>
                <a:highlight>
                  <a:srgbClr val="A4C2F4"/>
                </a:highlight>
                <a:latin typeface="DM Sans"/>
                <a:ea typeface="DM Sans"/>
                <a:cs typeface="DM Sans"/>
                <a:sym typeface="DM Sans"/>
              </a:rPr>
              <a:t>Account account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= </a:t>
            </a:r>
            <a:r>
              <a:rPr lang="en" sz="126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accountRepository.findById(conn, accountId)</a:t>
            </a:r>
            <a:endParaRPr sz="1260">
              <a:solidFill>
                <a:schemeClr val="lt1"/>
              </a:solidFill>
              <a:highlight>
                <a:srgbClr val="EA9999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.orElseThrow(() -&gt;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</a:t>
            </a:r>
            <a:r>
              <a:rPr lang="en" sz="1260">
                <a:solidFill>
                  <a:schemeClr val="lt1"/>
                </a:solidFill>
                <a:highlight>
                  <a:srgbClr val="FCE5CD"/>
                </a:highlight>
                <a:latin typeface="DM Sans"/>
                <a:ea typeface="DM Sans"/>
                <a:cs typeface="DM Sans"/>
                <a:sym typeface="DM Sans"/>
              </a:rPr>
              <a:t>logger.error("Login failed: no account found with id {}", accountId);</a:t>
            </a:r>
            <a:endParaRPr sz="126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return new AccountNotFoundException("No account found with id " + accountId);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});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// Future improvement would include evaluating a hashed pin rather than string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// evaluation as implemented below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if (!account.getPin().equals(pin)) {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logger.error("Login failed: incorrect PIN entered for account {}", accountId);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throw new </a:t>
            </a:r>
            <a:r>
              <a:rPr lang="en" sz="126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InvalidPinException</a:t>
            </a: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("Incorrect PIN for account " + accountId);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logger.info("User successfully logged into account {}", accountId);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return account;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sz="12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2" name="Google Shape;542;p61"/>
          <p:cNvSpPr txBox="1"/>
          <p:nvPr/>
        </p:nvSpPr>
        <p:spPr>
          <a:xfrm>
            <a:off x="7393125" y="810500"/>
            <a:ext cx="1750800" cy="3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JDBC</a:t>
            </a:r>
            <a:endParaRPr sz="170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A4C2F4"/>
                </a:highlight>
                <a:latin typeface="DM Sans"/>
                <a:ea typeface="DM Sans"/>
                <a:cs typeface="DM Sans"/>
                <a:sym typeface="DM Sans"/>
              </a:rPr>
              <a:t>Model</a:t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Business</a:t>
            </a:r>
            <a:endParaRPr sz="1700">
              <a:solidFill>
                <a:schemeClr val="lt1"/>
              </a:solidFill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Data </a:t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Access</a:t>
            </a:r>
            <a:endParaRPr sz="1700">
              <a:solidFill>
                <a:schemeClr val="lt1"/>
              </a:solidFill>
              <a:highlight>
                <a:srgbClr val="EA9999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CE5CD"/>
                </a:highlight>
                <a:latin typeface="DM Sans"/>
                <a:ea typeface="DM Sans"/>
                <a:cs typeface="DM Sans"/>
                <a:sym typeface="DM Sans"/>
              </a:rPr>
              <a:t>Logging</a:t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Custom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Exception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62"/>
          <p:cNvSpPr txBox="1"/>
          <p:nvPr>
            <p:ph idx="1" type="subTitle"/>
          </p:nvPr>
        </p:nvSpPr>
        <p:spPr>
          <a:xfrm>
            <a:off x="455850" y="810500"/>
            <a:ext cx="22485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AccountRepositoryImpl.java</a:t>
            </a:r>
            <a:endParaRPr sz="1200"/>
          </a:p>
        </p:txBody>
      </p:sp>
      <p:sp>
        <p:nvSpPr>
          <p:cNvPr id="549" name="Google Shape;549;p62"/>
          <p:cNvSpPr txBox="1"/>
          <p:nvPr>
            <p:ph type="title"/>
          </p:nvPr>
        </p:nvSpPr>
        <p:spPr>
          <a:xfrm>
            <a:off x="1704100" y="217725"/>
            <a:ext cx="61179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Feature Explained: Login</a:t>
            </a:r>
            <a:endParaRPr sz="2800"/>
          </a:p>
        </p:txBody>
      </p:sp>
      <p:sp>
        <p:nvSpPr>
          <p:cNvPr id="550" name="Google Shape;550;p62"/>
          <p:cNvSpPr txBox="1"/>
          <p:nvPr/>
        </p:nvSpPr>
        <p:spPr>
          <a:xfrm>
            <a:off x="361975" y="1066100"/>
            <a:ext cx="7148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@Override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public Optional&lt;Account&gt; findById(Connection conn, int id) throws SQLException {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try (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PreparedStatement statement = conn.prepareStatement(SQL_FIND_BY_ID)</a:t>
            </a: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statement.setInt(1, id)</a:t>
            </a: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try (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ResultSet resultSet = statement.executeQuery()</a:t>
            </a: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if (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resultSet.next()</a:t>
            </a: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) {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</a:t>
            </a:r>
            <a:r>
              <a:rPr lang="en" sz="1360">
                <a:solidFill>
                  <a:schemeClr val="lt1"/>
                </a:solidFill>
                <a:highlight>
                  <a:srgbClr val="A4C2F4"/>
                </a:highlight>
                <a:latin typeface="DM Sans"/>
                <a:ea typeface="DM Sans"/>
                <a:cs typeface="DM Sans"/>
                <a:sym typeface="DM Sans"/>
              </a:rPr>
              <a:t>Account account = new Account</a:t>
            </a: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resultSet.getInt("id"),</a:t>
            </a:r>
            <a:endParaRPr sz="136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resultSet.getString("pin"),</a:t>
            </a:r>
            <a:endParaRPr sz="136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</a:t>
            </a:r>
            <a:r>
              <a:rPr lang="en" sz="136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resultSet.getBigDecimal("balance")</a:t>
            </a:r>
            <a:endParaRPr sz="136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);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    return Optional.of(account);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    }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    }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}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    return Optional.empty();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6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sz="136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1" name="Google Shape;551;p62"/>
          <p:cNvSpPr txBox="1"/>
          <p:nvPr/>
        </p:nvSpPr>
        <p:spPr>
          <a:xfrm>
            <a:off x="7393125" y="810500"/>
            <a:ext cx="1750800" cy="3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B4A7D6"/>
                </a:highlight>
                <a:latin typeface="DM Sans"/>
                <a:ea typeface="DM Sans"/>
                <a:cs typeface="DM Sans"/>
                <a:sym typeface="DM Sans"/>
              </a:rPr>
              <a:t>JDBC</a:t>
            </a:r>
            <a:endParaRPr sz="170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A4C2F4"/>
                </a:highlight>
                <a:latin typeface="DM Sans"/>
                <a:ea typeface="DM Sans"/>
                <a:cs typeface="DM Sans"/>
                <a:sym typeface="DM Sans"/>
              </a:rPr>
              <a:t>Model</a:t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A4C2F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Business</a:t>
            </a:r>
            <a:endParaRPr sz="1700">
              <a:solidFill>
                <a:schemeClr val="lt1"/>
              </a:solidFill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Data </a:t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EA9999"/>
                </a:highlight>
                <a:latin typeface="DM Sans"/>
                <a:ea typeface="DM Sans"/>
                <a:cs typeface="DM Sans"/>
                <a:sym typeface="DM Sans"/>
              </a:rPr>
              <a:t>Access</a:t>
            </a:r>
            <a:endParaRPr sz="1700">
              <a:solidFill>
                <a:schemeClr val="lt1"/>
              </a:solidFill>
              <a:highlight>
                <a:srgbClr val="EA9999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CE5CD"/>
                </a:highlight>
                <a:latin typeface="DM Sans"/>
                <a:ea typeface="DM Sans"/>
                <a:cs typeface="DM Sans"/>
                <a:sym typeface="DM Sans"/>
              </a:rPr>
              <a:t>Logging</a:t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FCE5CD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Custom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highlight>
                  <a:srgbClr val="F9CB9C"/>
                </a:highlight>
                <a:latin typeface="DM Sans"/>
                <a:ea typeface="DM Sans"/>
                <a:cs typeface="DM Sans"/>
                <a:sym typeface="DM Sans"/>
              </a:rPr>
              <a:t>Exception</a:t>
            </a:r>
            <a:endParaRPr sz="1700">
              <a:solidFill>
                <a:schemeClr val="lt1"/>
              </a:solidFill>
              <a:highlight>
                <a:srgbClr val="F9CB9C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highlight>
                <a:srgbClr val="B4A7D6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58" name="Google Shape;558;p63"/>
          <p:cNvSpPr txBox="1"/>
          <p:nvPr>
            <p:ph type="title"/>
          </p:nvPr>
        </p:nvSpPr>
        <p:spPr>
          <a:xfrm>
            <a:off x="2423700" y="451721"/>
            <a:ext cx="4471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Unit Testing and Logging</a:t>
            </a:r>
            <a:endParaRPr sz="2800"/>
          </a:p>
        </p:txBody>
      </p:sp>
      <p:sp>
        <p:nvSpPr>
          <p:cNvPr id="559" name="Google Shape;559;p63"/>
          <p:cNvSpPr txBox="1"/>
          <p:nvPr/>
        </p:nvSpPr>
        <p:spPr>
          <a:xfrm>
            <a:off x="1241850" y="1371600"/>
            <a:ext cx="71130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⏰ Demo Time!</a:t>
            </a:r>
            <a:endParaRPr sz="4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6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Thanks!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Any questions?🤔</a:t>
            </a:r>
            <a:endParaRPr sz="3600"/>
          </a:p>
        </p:txBody>
      </p:sp>
      <p:sp>
        <p:nvSpPr>
          <p:cNvPr id="567" name="Google Shape;567;p6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